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0D58E9-9A65-EE7D-32D2-F7A03DC55B6B}" v="455" dt="2026-01-13T13:20:04.5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64" d="100"/>
          <a:sy n="64" d="100"/>
        </p:scale>
        <p:origin x="52" y="5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10586CE3C0F41114/Campaign_Data_Wee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10586CE3C0F41114/Campaign_Data_Wee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10586CE3C0F41114/Campaign_Data_Week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[Campaign_Data_Week1.xlsx]Sheet1!PivotTable1</c:name>
    <c:fmtId val="-1"/>
  </c:pivotSource>
  <c:chart>
    <c:autoTitleDeleted val="1"/>
    <c:pivotFmts>
      <c:pivotFmt>
        <c:idx val="0"/>
        <c:spPr>
          <a:solidFill>
            <a:srgbClr val="D86DCD"/>
          </a:solidFill>
          <a:ln>
            <a:solidFill>
              <a:srgbClr val="FFFFFF"/>
            </a:solidFill>
            <a:prstDash val="solid"/>
          </a:ln>
          <a:effectLst/>
        </c:spPr>
        <c:marker>
          <c:symbol val="circle"/>
          <c:size val="5"/>
          <c:spPr>
            <a:solidFill>
              <a:srgbClr val="637CEF"/>
            </a:solidFill>
            <a:ln w="9525">
              <a:solidFill>
                <a:srgbClr val="637CEF"/>
              </a:solidFill>
            </a:ln>
            <a:effectLst/>
          </c:spPr>
        </c:marker>
        <c:dLbl>
          <c:idx val="0"/>
          <c:spPr>
            <a:solidFill>
              <a:srgbClr val="FFFFFF"/>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Cambria"/>
                  <a:ea typeface="Cambria"/>
                  <a:cs typeface="Cambria"/>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D86DCD"/>
          </a:solidFill>
          <a:ln>
            <a:solidFill>
              <a:srgbClr val="FFFFFF"/>
            </a:solidFill>
            <a:prstDash val="solid"/>
          </a:ln>
          <a:effectLst/>
        </c:spPr>
        <c:marker>
          <c:symbol val="none"/>
        </c:marker>
        <c:dLbl>
          <c:idx val="0"/>
          <c:spPr>
            <a:solidFill>
              <a:srgbClr val="FFFFFF"/>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Cambria"/>
                  <a:ea typeface="Cambria"/>
                  <a:cs typeface="Cambria"/>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D86DCD"/>
          </a:solidFill>
          <a:ln>
            <a:solidFill>
              <a:srgbClr val="FFFFFF"/>
            </a:solidFill>
            <a:prstDash val="solid"/>
          </a:ln>
          <a:effectLst/>
        </c:spPr>
        <c:marker>
          <c:symbol val="none"/>
        </c:marker>
        <c:dLbl>
          <c:idx val="0"/>
          <c:spPr>
            <a:solidFill>
              <a:srgbClr val="FFFFFF"/>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Cambria"/>
                  <a:ea typeface="Cambria"/>
                  <a:cs typeface="Cambria"/>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rgbClr val="D86DCD"/>
            </a:solidFill>
            <a:ln>
              <a:solidFill>
                <a:srgbClr val="FFFFFF"/>
              </a:solidFill>
              <a:prstDash val="solid"/>
            </a:ln>
            <a:effectLst/>
          </c:spPr>
          <c:invertIfNegative val="0"/>
          <c:dLbls>
            <c:spPr>
              <a:solidFill>
                <a:srgbClr val="FFFFFF"/>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Cambria"/>
                    <a:ea typeface="Cambria"/>
                    <a:cs typeface="Cambria"/>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Sheet1!$A$4:$A$6</c:f>
              <c:strCache>
                <c:ptCount val="3"/>
                <c:pt idx="0">
                  <c:v>Email</c:v>
                </c:pt>
                <c:pt idx="1">
                  <c:v>Instagram</c:v>
                </c:pt>
                <c:pt idx="2">
                  <c:v>Web Banner</c:v>
                </c:pt>
              </c:strCache>
            </c:strRef>
          </c:cat>
          <c:val>
            <c:numRef>
              <c:f>Sheet1!$B$4:$B$6</c:f>
              <c:numCache>
                <c:formatCode>General</c:formatCode>
                <c:ptCount val="3"/>
                <c:pt idx="0">
                  <c:v>3506.8500000000004</c:v>
                </c:pt>
                <c:pt idx="1">
                  <c:v>1385.6</c:v>
                </c:pt>
                <c:pt idx="2">
                  <c:v>951.98</c:v>
                </c:pt>
              </c:numCache>
            </c:numRef>
          </c:val>
          <c:extLst>
            <c:ext xmlns:c16="http://schemas.microsoft.com/office/drawing/2014/chart" uri="{C3380CC4-5D6E-409C-BE32-E72D297353CC}">
              <c16:uniqueId val="{00000000-9BC6-459D-A781-D8DB6045F455}"/>
            </c:ext>
          </c:extLst>
        </c:ser>
        <c:dLbls>
          <c:showLegendKey val="0"/>
          <c:showVal val="0"/>
          <c:showCatName val="0"/>
          <c:showSerName val="0"/>
          <c:showPercent val="0"/>
          <c:showBubbleSize val="0"/>
        </c:dLbls>
        <c:gapWidth val="219"/>
        <c:overlap val="-27"/>
        <c:axId val="1841256968"/>
        <c:axId val="119530503"/>
      </c:barChart>
      <c:catAx>
        <c:axId val="1841256968"/>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Cambria"/>
                    <a:ea typeface="Cambria"/>
                    <a:cs typeface="Cambria"/>
                  </a:defRPr>
                </a:pPr>
                <a:r>
                  <a:rPr lang="en-US"/>
                  <a:t>Channel</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ambria"/>
                  <a:ea typeface="Cambria"/>
                  <a:cs typeface="Cambria"/>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530503"/>
        <c:crosses val="autoZero"/>
        <c:auto val="1"/>
        <c:lblAlgn val="ctr"/>
        <c:lblOffset val="100"/>
        <c:noMultiLvlLbl val="0"/>
      </c:catAx>
      <c:valAx>
        <c:axId val="119530503"/>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Cambria"/>
                    <a:ea typeface="Cambria"/>
                    <a:cs typeface="Cambria"/>
                  </a:defRPr>
                </a:pPr>
                <a:r>
                  <a:rPr lang="en-US"/>
                  <a:t>Sales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Cambria"/>
                  <a:ea typeface="Cambria"/>
                  <a:cs typeface="Cambria"/>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1256968"/>
        <c:crosses val="autoZero"/>
        <c:crossBetween val="between"/>
      </c:valAx>
      <c:spPr>
        <a:noFill/>
        <a:ln>
          <a:noFill/>
        </a:ln>
        <a:effectLst/>
      </c:spPr>
    </c:plotArea>
    <c:legend>
      <c:legendPos val="t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[Campaign_Data_Week1.xlsx]Sheet1!PivotTable4</c:name>
    <c:fmtId val="-1"/>
  </c:pivotSource>
  <c:chart>
    <c:autoTitleDeleted val="1"/>
    <c:pivotFmts>
      <c:pivotFmt>
        <c:idx val="0"/>
        <c:spPr>
          <a:solidFill>
            <a:srgbClr val="D86DCD"/>
          </a:solidFill>
          <a:ln>
            <a:noFill/>
          </a:ln>
          <a:effectLst/>
        </c:spPr>
        <c:marker>
          <c:symbol val="circle"/>
          <c:size val="5"/>
          <c:spPr>
            <a:solidFill>
              <a:srgbClr val="637CEF"/>
            </a:solidFill>
            <a:ln w="9525">
              <a:solidFill>
                <a:srgbClr val="637CEF"/>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1"/>
          <c:showVal val="0"/>
          <c:showCatName val="0"/>
          <c:showSerName val="0"/>
          <c:showPercent val="0"/>
          <c:showBubbleSize val="0"/>
          <c:extLst>
            <c:ext xmlns:c15="http://schemas.microsoft.com/office/drawing/2012/chart" uri="{CE6537A1-D6FC-4f65-9D91-7224C49458BB}"/>
          </c:extLst>
        </c:dLbl>
      </c:pivotFmt>
      <c:pivotFmt>
        <c:idx val="1"/>
        <c:spPr>
          <a:solidFill>
            <a:srgbClr val="8ED973"/>
          </a:solidFill>
          <a:ln>
            <a:noFill/>
          </a:ln>
          <a:effectLst/>
        </c:spPr>
        <c:marker>
          <c:symbol val="circle"/>
          <c:size val="5"/>
          <c:spPr>
            <a:solidFill>
              <a:srgbClr val="E3008C"/>
            </a:solidFill>
            <a:ln w="9525">
              <a:solidFill>
                <a:srgbClr val="E3008C"/>
              </a:solidFill>
            </a:ln>
            <a:effectLst/>
          </c:spPr>
        </c:marker>
      </c:pivotFmt>
      <c:pivotFmt>
        <c:idx val="2"/>
        <c:spPr>
          <a:solidFill>
            <a:srgbClr val="D86DCD"/>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8ED97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D86DCD"/>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8ED97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Sheet1!$B$20:$B$21</c:f>
              <c:strCache>
                <c:ptCount val="1"/>
                <c:pt idx="0">
                  <c:v>A</c:v>
                </c:pt>
              </c:strCache>
            </c:strRef>
          </c:tx>
          <c:spPr>
            <a:solidFill>
              <a:srgbClr val="D86DCD"/>
            </a:solidFill>
            <a:ln>
              <a:noFill/>
            </a:ln>
            <a:effectLst/>
          </c:spPr>
          <c:invertIfNegative val="0"/>
          <c:cat>
            <c:strRef>
              <c:f>Sheet1!$A$22:$A$24</c:f>
              <c:strCache>
                <c:ptCount val="3"/>
                <c:pt idx="0">
                  <c:v>Email</c:v>
                </c:pt>
                <c:pt idx="1">
                  <c:v>Instagram</c:v>
                </c:pt>
                <c:pt idx="2">
                  <c:v>Web Banner</c:v>
                </c:pt>
              </c:strCache>
            </c:strRef>
          </c:cat>
          <c:val>
            <c:numRef>
              <c:f>Sheet1!$B$22:$B$24</c:f>
              <c:numCache>
                <c:formatCode>General</c:formatCode>
                <c:ptCount val="3"/>
                <c:pt idx="0">
                  <c:v>2124.4700000000003</c:v>
                </c:pt>
                <c:pt idx="1">
                  <c:v>969.46</c:v>
                </c:pt>
                <c:pt idx="2">
                  <c:v>633.06000000000006</c:v>
                </c:pt>
              </c:numCache>
            </c:numRef>
          </c:val>
          <c:extLst>
            <c:ext xmlns:c16="http://schemas.microsoft.com/office/drawing/2014/chart" uri="{C3380CC4-5D6E-409C-BE32-E72D297353CC}">
              <c16:uniqueId val="{00000000-6DC4-4245-AACF-6DCC7DCD207D}"/>
            </c:ext>
          </c:extLst>
        </c:ser>
        <c:ser>
          <c:idx val="1"/>
          <c:order val="1"/>
          <c:tx>
            <c:strRef>
              <c:f>Sheet1!$C$20:$C$21</c:f>
              <c:strCache>
                <c:ptCount val="1"/>
                <c:pt idx="0">
                  <c:v>B</c:v>
                </c:pt>
              </c:strCache>
            </c:strRef>
          </c:tx>
          <c:spPr>
            <a:solidFill>
              <a:srgbClr val="8ED973"/>
            </a:solidFill>
            <a:ln>
              <a:noFill/>
            </a:ln>
            <a:effectLst/>
          </c:spPr>
          <c:invertIfNegative val="0"/>
          <c:cat>
            <c:strRef>
              <c:f>Sheet1!$A$22:$A$24</c:f>
              <c:strCache>
                <c:ptCount val="3"/>
                <c:pt idx="0">
                  <c:v>Email</c:v>
                </c:pt>
                <c:pt idx="1">
                  <c:v>Instagram</c:v>
                </c:pt>
                <c:pt idx="2">
                  <c:v>Web Banner</c:v>
                </c:pt>
              </c:strCache>
            </c:strRef>
          </c:cat>
          <c:val>
            <c:numRef>
              <c:f>Sheet1!$C$22:$C$24</c:f>
              <c:numCache>
                <c:formatCode>General</c:formatCode>
                <c:ptCount val="3"/>
                <c:pt idx="0">
                  <c:v>1382.3799999999999</c:v>
                </c:pt>
                <c:pt idx="1">
                  <c:v>416.14</c:v>
                </c:pt>
                <c:pt idx="2">
                  <c:v>318.92000000000007</c:v>
                </c:pt>
              </c:numCache>
            </c:numRef>
          </c:val>
          <c:extLst>
            <c:ext xmlns:c16="http://schemas.microsoft.com/office/drawing/2014/chart" uri="{C3380CC4-5D6E-409C-BE32-E72D297353CC}">
              <c16:uniqueId val="{00000001-6DC4-4245-AACF-6DCC7DCD207D}"/>
            </c:ext>
          </c:extLst>
        </c:ser>
        <c:dLbls>
          <c:showLegendKey val="0"/>
          <c:showVal val="0"/>
          <c:showCatName val="0"/>
          <c:showSerName val="0"/>
          <c:showPercent val="0"/>
          <c:showBubbleSize val="0"/>
        </c:dLbls>
        <c:gapWidth val="150"/>
        <c:overlap val="100"/>
        <c:axId val="1412239879"/>
        <c:axId val="1412242439"/>
      </c:barChart>
      <c:catAx>
        <c:axId val="1412239879"/>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Cambria"/>
                    <a:ea typeface="Cambria"/>
                    <a:cs typeface="Cambria"/>
                  </a:defRPr>
                </a:pPr>
                <a:r>
                  <a:rPr lang="en-US"/>
                  <a:t>Channel</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ambria"/>
                  <a:ea typeface="Cambria"/>
                  <a:cs typeface="Cambria"/>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2242439"/>
        <c:crosses val="autoZero"/>
        <c:auto val="1"/>
        <c:lblAlgn val="ctr"/>
        <c:lblOffset val="100"/>
        <c:noMultiLvlLbl val="0"/>
      </c:catAx>
      <c:valAx>
        <c:axId val="1412242439"/>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Cambria"/>
                    <a:ea typeface="Cambria"/>
                    <a:cs typeface="Cambria"/>
                  </a:defRPr>
                </a:pPr>
                <a:r>
                  <a:rPr lang="en-US"/>
                  <a:t>Sales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Cambria"/>
                  <a:ea typeface="Cambria"/>
                  <a:cs typeface="Cambria"/>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2239879"/>
        <c:crosses val="autoZero"/>
        <c:crossBetween val="between"/>
      </c:valAx>
      <c:spPr>
        <a:noFill/>
        <a:ln>
          <a:noFill/>
        </a:ln>
        <a:effectLst/>
      </c:spPr>
    </c:plotArea>
    <c:legend>
      <c:legendPos val="t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[Campaign_Data_Week1.xlsx]Sheet1!PivotTable2</c:name>
    <c:fmtId val="-1"/>
  </c:pivotSource>
  <c:chart>
    <c:autoTitleDeleted val="1"/>
    <c:pivotFmts>
      <c:pivotFmt>
        <c:idx val="0"/>
        <c:spPr>
          <a:solidFill>
            <a:srgbClr val="F1A983"/>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rgbClr val="A6C9EC"/>
          </a:solidFill>
          <a:ln w="19050">
            <a:solidFill>
              <a:schemeClr val="lt1"/>
            </a:solidFill>
          </a:ln>
          <a:effectLst/>
        </c:spPr>
      </c:pivotFmt>
      <c:pivotFmt>
        <c:idx val="2"/>
        <c:spPr>
          <a:solidFill>
            <a:srgbClr val="E49EDD"/>
          </a:solidFill>
          <a:ln w="19050">
            <a:solidFill>
              <a:schemeClr val="lt1"/>
            </a:solidFill>
          </a:ln>
          <a:effectLst/>
        </c:spPr>
      </c:pivotFmt>
      <c:pivotFmt>
        <c:idx val="3"/>
        <c:spPr>
          <a:solidFill>
            <a:srgbClr val="44B3E1"/>
          </a:solidFill>
          <a:ln w="19050">
            <a:solidFill>
              <a:schemeClr val="lt1"/>
            </a:solidFill>
          </a:ln>
          <a:effectLst/>
        </c:spPr>
      </c:pivotFmt>
      <c:pivotFmt>
        <c:idx val="4"/>
        <c:spPr>
          <a:solidFill>
            <a:srgbClr val="F1A983"/>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
        <c:spPr>
          <a:solidFill>
            <a:srgbClr val="E49EDD"/>
          </a:solidFill>
          <a:ln w="19050">
            <a:solidFill>
              <a:schemeClr val="lt1"/>
            </a:solidFill>
          </a:ln>
          <a:effectLst/>
        </c:spPr>
      </c:pivotFmt>
      <c:pivotFmt>
        <c:idx val="6"/>
        <c:spPr>
          <a:solidFill>
            <a:srgbClr val="44B3E1"/>
          </a:solidFill>
          <a:ln w="19050">
            <a:solidFill>
              <a:schemeClr val="lt1"/>
            </a:solidFill>
          </a:ln>
          <a:effectLst/>
        </c:spPr>
      </c:pivotFmt>
      <c:pivotFmt>
        <c:idx val="7"/>
        <c:spPr>
          <a:solidFill>
            <a:srgbClr val="A6C9EC"/>
          </a:solidFill>
          <a:ln w="19050">
            <a:solidFill>
              <a:schemeClr val="lt1"/>
            </a:solidFill>
          </a:ln>
          <a:effectLst/>
        </c:spPr>
      </c:pivotFmt>
      <c:pivotFmt>
        <c:idx val="8"/>
        <c:spPr>
          <a:solidFill>
            <a:srgbClr val="F1A983"/>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9"/>
        <c:spPr>
          <a:solidFill>
            <a:srgbClr val="E49EDD"/>
          </a:solidFill>
          <a:ln w="19050">
            <a:solidFill>
              <a:schemeClr val="lt1"/>
            </a:solidFill>
          </a:ln>
          <a:effectLst/>
        </c:spPr>
      </c:pivotFmt>
      <c:pivotFmt>
        <c:idx val="10"/>
        <c:spPr>
          <a:solidFill>
            <a:srgbClr val="44B3E1"/>
          </a:solidFill>
          <a:ln w="19050">
            <a:solidFill>
              <a:schemeClr val="lt1"/>
            </a:solidFill>
          </a:ln>
          <a:effectLst/>
        </c:spPr>
      </c:pivotFmt>
      <c:pivotFmt>
        <c:idx val="11"/>
        <c:spPr>
          <a:solidFill>
            <a:srgbClr val="A6C9EC"/>
          </a:solidFill>
          <a:ln w="19050">
            <a:solidFill>
              <a:schemeClr val="lt1"/>
            </a:solidFill>
          </a:ln>
          <a:effectLst/>
        </c:spPr>
      </c:pivotFmt>
    </c:pivotFmts>
    <c:plotArea>
      <c:layout/>
      <c:pieChart>
        <c:varyColors val="1"/>
        <c:ser>
          <c:idx val="0"/>
          <c:order val="0"/>
          <c:tx>
            <c:strRef>
              <c:f>Sheet1!$B$40</c:f>
              <c:strCache>
                <c:ptCount val="1"/>
                <c:pt idx="0">
                  <c:v>Total</c:v>
                </c:pt>
              </c:strCache>
            </c:strRef>
          </c:tx>
          <c:spPr>
            <a:solidFill>
              <a:srgbClr val="F1A983"/>
            </a:solidFill>
          </c:spPr>
          <c:dPt>
            <c:idx val="0"/>
            <c:bubble3D val="0"/>
            <c:spPr>
              <a:solidFill>
                <a:srgbClr val="E49EDD"/>
              </a:solidFill>
              <a:ln w="19050">
                <a:solidFill>
                  <a:schemeClr val="lt1"/>
                </a:solidFill>
              </a:ln>
              <a:effectLst/>
            </c:spPr>
            <c:extLst>
              <c:ext xmlns:c16="http://schemas.microsoft.com/office/drawing/2014/chart" uri="{C3380CC4-5D6E-409C-BE32-E72D297353CC}">
                <c16:uniqueId val="{00000001-67C5-4316-944E-ABFABD9A0489}"/>
              </c:ext>
            </c:extLst>
          </c:dPt>
          <c:dPt>
            <c:idx val="1"/>
            <c:bubble3D val="0"/>
            <c:spPr>
              <a:solidFill>
                <a:srgbClr val="44B3E1"/>
              </a:solidFill>
              <a:ln w="19050">
                <a:solidFill>
                  <a:schemeClr val="lt1"/>
                </a:solidFill>
              </a:ln>
              <a:effectLst/>
            </c:spPr>
            <c:extLst>
              <c:ext xmlns:c16="http://schemas.microsoft.com/office/drawing/2014/chart" uri="{C3380CC4-5D6E-409C-BE32-E72D297353CC}">
                <c16:uniqueId val="{00000003-67C5-4316-944E-ABFABD9A0489}"/>
              </c:ext>
            </c:extLst>
          </c:dPt>
          <c:dPt>
            <c:idx val="2"/>
            <c:bubble3D val="0"/>
            <c:spPr>
              <a:solidFill>
                <a:srgbClr val="A6C9EC"/>
              </a:solidFill>
              <a:ln w="19050">
                <a:solidFill>
                  <a:schemeClr val="lt1"/>
                </a:solidFill>
              </a:ln>
              <a:effectLst/>
            </c:spPr>
            <c:extLst>
              <c:ext xmlns:c16="http://schemas.microsoft.com/office/drawing/2014/chart" uri="{C3380CC4-5D6E-409C-BE32-E72D297353CC}">
                <c16:uniqueId val="{00000005-67C5-4316-944E-ABFABD9A0489}"/>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Sheet1!$A$41:$A$44</c:f>
              <c:strCache>
                <c:ptCount val="3"/>
                <c:pt idx="0">
                  <c:v>Email</c:v>
                </c:pt>
                <c:pt idx="1">
                  <c:v>Instagram</c:v>
                </c:pt>
                <c:pt idx="2">
                  <c:v>Web Banner</c:v>
                </c:pt>
              </c:strCache>
            </c:strRef>
          </c:cat>
          <c:val>
            <c:numRef>
              <c:f>Sheet1!$B$41:$B$44</c:f>
              <c:numCache>
                <c:formatCode>General</c:formatCode>
                <c:ptCount val="3"/>
                <c:pt idx="0">
                  <c:v>3506.8500000000004</c:v>
                </c:pt>
                <c:pt idx="1">
                  <c:v>1385.6</c:v>
                </c:pt>
                <c:pt idx="2">
                  <c:v>951.98</c:v>
                </c:pt>
              </c:numCache>
            </c:numRef>
          </c:val>
          <c:extLst>
            <c:ext xmlns:c16="http://schemas.microsoft.com/office/drawing/2014/chart" uri="{C3380CC4-5D6E-409C-BE32-E72D297353CC}">
              <c16:uniqueId val="{00000006-67C5-4316-944E-ABFABD9A0489}"/>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2.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3.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1/13/2026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1/13/2026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4" name="Object 3"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US" sz="2800" dirty="0">
                <a:solidFill>
                  <a:schemeClr val="accent2">
                    <a:lumMod val="49000"/>
                  </a:schemeClr>
                </a:solidFill>
              </a:rPr>
              <a:t>Visualizing Insights for Campaign Data</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i="1" dirty="0">
                <a:solidFill>
                  <a:srgbClr val="000000"/>
                </a:solidFill>
              </a:rPr>
              <a:t>Insights</a:t>
            </a:r>
            <a:r>
              <a:rPr lang="en-US" sz="1600" b="1" dirty="0">
                <a:solidFill>
                  <a:srgbClr val="000000"/>
                </a:solidFill>
              </a:rPr>
              <a:t>: </a:t>
            </a:r>
            <a:r>
              <a:rPr lang="en-US" sz="1600" dirty="0">
                <a:solidFill>
                  <a:srgbClr val="000000"/>
                </a:solidFill>
                <a:ea typeface="+mn-lt"/>
                <a:cs typeface="+mn-lt"/>
              </a:rPr>
              <a:t>Email drives the most new-customer revenue. Campaign A dominates Email for new customers. Email holds the largest share of new-customer revenue.</a:t>
            </a:r>
            <a:endParaRPr lang="en-US" sz="1400" dirty="0">
              <a:solidFill>
                <a:srgbClr val="000000"/>
              </a:solidFill>
              <a:ea typeface="+mn-lt"/>
              <a:cs typeface="+mn-lt"/>
            </a:endParaRPr>
          </a:p>
          <a:p>
            <a:r>
              <a:rPr lang="en-US" sz="1600" b="1" i="1" dirty="0">
                <a:solidFill>
                  <a:srgbClr val="000000"/>
                </a:solidFill>
              </a:rPr>
              <a:t>Recommendation</a:t>
            </a:r>
            <a:r>
              <a:rPr lang="en-US" sz="1600" b="1" dirty="0">
                <a:solidFill>
                  <a:srgbClr val="000000"/>
                </a:solidFill>
              </a:rPr>
              <a:t>:</a:t>
            </a:r>
            <a:r>
              <a:rPr lang="en-US" sz="1600" b="1" dirty="0">
                <a:solidFill>
                  <a:srgbClr val="000000"/>
                </a:solidFill>
                <a:ea typeface="+mn-lt"/>
                <a:cs typeface="+mn-lt"/>
              </a:rPr>
              <a:t> </a:t>
            </a:r>
            <a:r>
              <a:rPr lang="en-US" sz="1600" dirty="0">
                <a:solidFill>
                  <a:srgbClr val="000000"/>
                </a:solidFill>
                <a:ea typeface="+mn-lt"/>
                <a:cs typeface="+mn-lt"/>
              </a:rPr>
              <a:t>Prioritize Email with Campaign A, as it drives the highest and most consistent new customer sales.</a:t>
            </a:r>
            <a:endParaRPr lang="en-US" sz="1200"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01359"/>
            <a:ext cx="2328814" cy="52322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chemeClr val="bg2">
                    <a:lumMod val="10000"/>
                  </a:schemeClr>
                </a:solidFill>
                <a:ea typeface="+mn-lt"/>
                <a:cs typeface="+mn-lt"/>
              </a:rPr>
              <a:t>New Customer Sales by Channel</a:t>
            </a:r>
            <a:endParaRPr lang="en-US" b="1" dirty="0">
              <a:solidFill>
                <a:schemeClr val="bg2">
                  <a:lumMod val="10000"/>
                </a:schemeClr>
              </a:solidFill>
            </a:endParaRP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18705" y="1600440"/>
            <a:ext cx="2328814" cy="52322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chemeClr val="tx1">
                    <a:lumMod val="49000"/>
                  </a:schemeClr>
                </a:solidFill>
                <a:ea typeface="+mn-lt"/>
                <a:cs typeface="+mn-lt"/>
              </a:rPr>
              <a:t>Campaign Contribution to New Customer Sales</a:t>
            </a:r>
            <a:endParaRPr lang="en-US" b="1" dirty="0">
              <a:solidFill>
                <a:schemeClr val="tx1">
                  <a:lumMod val="49000"/>
                </a:schemeClr>
              </a:solidFill>
              <a:ea typeface="+mn-lt"/>
              <a:cs typeface="+mn-lt"/>
            </a:endParaRPr>
          </a:p>
        </p:txBody>
      </p:sp>
      <p:sp>
        <p:nvSpPr>
          <p:cNvPr id="54" name="Rectangle 53">
            <a:extLst>
              <a:ext uri="{FF2B5EF4-FFF2-40B4-BE49-F238E27FC236}">
                <a16:creationId xmlns:a16="http://schemas.microsoft.com/office/drawing/2014/main" id="{AC2F7AF7-DC76-6C1A-0458-2264EDF24BF9}"/>
              </a:ext>
            </a:extLst>
          </p:cNvPr>
          <p:cNvSpPr/>
          <p:nvPr/>
        </p:nvSpPr>
        <p:spPr>
          <a:xfrm>
            <a:off x="7480097" y="1596514"/>
            <a:ext cx="2328814" cy="52322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chemeClr val="tx1">
                    <a:lumMod val="49000"/>
                  </a:schemeClr>
                </a:solidFill>
                <a:ea typeface="+mn-lt"/>
                <a:cs typeface="+mn-lt"/>
              </a:rPr>
              <a:t>Share of New Customer Sales by Channel</a:t>
            </a:r>
            <a:endParaRPr lang="en-US" b="1" dirty="0">
              <a:solidFill>
                <a:schemeClr val="tx1">
                  <a:lumMod val="49000"/>
                </a:schemeClr>
              </a:solidFill>
            </a:endParaRP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13" name="Chart 12">
            <a:extLst>
              <a:ext uri="{FF2B5EF4-FFF2-40B4-BE49-F238E27FC236}">
                <a16:creationId xmlns:a16="http://schemas.microsoft.com/office/drawing/2014/main" id="{7A96A274-EF9B-526B-BB8C-7E9722BDCB44}"/>
              </a:ext>
              <a:ext uri="{147F2762-F138-4A5C-976F-8EAC2B608ADB}">
                <a16:predDERef xmlns:a16="http://schemas.microsoft.com/office/drawing/2014/main" pred="{454869EF-7632-D896-3767-E65C1F0EDCCD}"/>
              </a:ext>
            </a:extLst>
          </p:cNvPr>
          <p:cNvGraphicFramePr>
            <a:graphicFrameLocks/>
          </p:cNvGraphicFramePr>
          <p:nvPr>
            <p:extLst>
              <p:ext uri="{D42A27DB-BD31-4B8C-83A1-F6EECF244321}">
                <p14:modId xmlns:p14="http://schemas.microsoft.com/office/powerpoint/2010/main" val="95240003"/>
              </p:ext>
            </p:extLst>
          </p:nvPr>
        </p:nvGraphicFramePr>
        <p:xfrm>
          <a:off x="621506" y="2119311"/>
          <a:ext cx="2786063" cy="274320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4" name="Chart 13">
            <a:extLst>
              <a:ext uri="{FF2B5EF4-FFF2-40B4-BE49-F238E27FC236}">
                <a16:creationId xmlns:a16="http://schemas.microsoft.com/office/drawing/2014/main" id="{A85CC094-9442-9AFB-09A6-8E1DF95E4552}"/>
              </a:ext>
              <a:ext uri="{147F2762-F138-4A5C-976F-8EAC2B608ADB}">
                <a16:predDERef xmlns:a16="http://schemas.microsoft.com/office/drawing/2014/main" pred="{7A96A274-EF9B-526B-BB8C-7E9722BDCB44}"/>
              </a:ext>
            </a:extLst>
          </p:cNvPr>
          <p:cNvGraphicFramePr>
            <a:graphicFrameLocks/>
          </p:cNvGraphicFramePr>
          <p:nvPr>
            <p:extLst>
              <p:ext uri="{D42A27DB-BD31-4B8C-83A1-F6EECF244321}">
                <p14:modId xmlns:p14="http://schemas.microsoft.com/office/powerpoint/2010/main" val="458285308"/>
              </p:ext>
            </p:extLst>
          </p:nvPr>
        </p:nvGraphicFramePr>
        <p:xfrm>
          <a:off x="3919537" y="2083593"/>
          <a:ext cx="3000376" cy="2767012"/>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5" name="Chart 14">
            <a:extLst>
              <a:ext uri="{FF2B5EF4-FFF2-40B4-BE49-F238E27FC236}">
                <a16:creationId xmlns:a16="http://schemas.microsoft.com/office/drawing/2014/main" id="{C6D740C0-0F02-4A98-A403-88555104EABF}"/>
              </a:ext>
              <a:ext uri="{147F2762-F138-4A5C-976F-8EAC2B608ADB}">
                <a16:predDERef xmlns:a16="http://schemas.microsoft.com/office/drawing/2014/main" pred="{A85CC094-9442-9AFB-09A6-8E1DF95E4552}"/>
              </a:ext>
            </a:extLst>
          </p:cNvPr>
          <p:cNvGraphicFramePr>
            <a:graphicFrameLocks/>
          </p:cNvGraphicFramePr>
          <p:nvPr>
            <p:extLst>
              <p:ext uri="{D42A27DB-BD31-4B8C-83A1-F6EECF244321}">
                <p14:modId xmlns:p14="http://schemas.microsoft.com/office/powerpoint/2010/main" val="2950447268"/>
              </p:ext>
            </p:extLst>
          </p:nvPr>
        </p:nvGraphicFramePr>
        <p:xfrm>
          <a:off x="7455692" y="2119311"/>
          <a:ext cx="2762251" cy="2731294"/>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2.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108</TotalTime>
  <Words>24</Words>
  <Application>Microsoft Office PowerPoint</Application>
  <PresentationFormat>Widescreen</PresentationFormat>
  <Paragraphs>5</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BCG Grid 16:9</vt:lpstr>
      <vt:lpstr>Visualizing Insights for Campaign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Lancaster, Devon</cp:lastModifiedBy>
  <cp:revision>119</cp:revision>
  <cp:lastPrinted>2016-04-06T18:59:25Z</cp:lastPrinted>
  <dcterms:created xsi:type="dcterms:W3CDTF">2025-04-28T17:07:03Z</dcterms:created>
  <dcterms:modified xsi:type="dcterms:W3CDTF">2026-01-13T13:23:18Z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